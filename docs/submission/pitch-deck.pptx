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6937eb1add469e" /><Relationship Type="http://schemas.openxmlformats.org/officeDocument/2006/relationships/extended-properties" Target="/docProps/app.xml" Id="Rb56055f6e0d542e9" /><Relationship Type="http://schemas.openxmlformats.org/officeDocument/2006/relationships/officeDocument" Target="/ppt/presentation.xml" Id="Re544728f95f542ab" /></Relationships>
</file>

<file path=ppt/presentation.xml><?xml version="1.0" encoding="utf-8"?>
<p:presentation xmlns:p="http://schemas.openxmlformats.org/presentationml/2006/main">
  <p:sldMasterIdLst>
    <p:sldMasterId xmlns:r="http://schemas.openxmlformats.org/officeDocument/2006/relationships" id="2147483648" r:id="Rc0a6f109bec44236"/>
  </p:sldMasterIdLst>
  <p:notesMasterIdLst>
    <p:notesMasterId xmlns:r="http://schemas.openxmlformats.org/officeDocument/2006/relationships" r:id="R8cdbf51e6db54f16"/>
  </p:notesMasterIdLst>
  <p:sldIdLst>
    <p:sldId xmlns:r="http://schemas.openxmlformats.org/officeDocument/2006/relationships" id="256" r:id="R3689af2bba5e4a5a"/>
    <p:sldId xmlns:r="http://schemas.openxmlformats.org/officeDocument/2006/relationships" id="257" r:id="R11a77974861b4bad"/>
    <p:sldId xmlns:r="http://schemas.openxmlformats.org/officeDocument/2006/relationships" id="258" r:id="R49073016afd14a3c"/>
    <p:sldId xmlns:r="http://schemas.openxmlformats.org/officeDocument/2006/relationships" id="259" r:id="Rebe7a294307c4dff"/>
    <p:sldId xmlns:r="http://schemas.openxmlformats.org/officeDocument/2006/relationships" id="260" r:id="Rdea94c4af0ab404c"/>
    <p:sldId xmlns:r="http://schemas.openxmlformats.org/officeDocument/2006/relationships" id="261" r:id="Rfbeffa08948e4254"/>
    <p:sldId xmlns:r="http://schemas.openxmlformats.org/officeDocument/2006/relationships" id="262" r:id="R82299f6dda584f14"/>
    <p:sldId xmlns:r="http://schemas.openxmlformats.org/officeDocument/2006/relationships" id="263" r:id="R26a84cd9b7eb42ff"/>
    <p:sldId xmlns:r="http://schemas.openxmlformats.org/officeDocument/2006/relationships" id="264" r:id="Rd3dc9038b3f242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79758b4225c4fd6" /><Relationship Type="http://schemas.openxmlformats.org/officeDocument/2006/relationships/slideMaster" Target="/ppt/slideMasters/slideMaster1.xml" Id="Rc0a6f109bec44236" /><Relationship Type="http://schemas.openxmlformats.org/officeDocument/2006/relationships/notesMaster" Target="/ppt/notesMasters/notesMaster1.xml" Id="R8cdbf51e6db54f16" /><Relationship Type="http://schemas.openxmlformats.org/officeDocument/2006/relationships/presProps" Target="/ppt/presProps.xml" Id="R04e474be31694137" /><Relationship Type="http://schemas.openxmlformats.org/officeDocument/2006/relationships/tableStyles" Target="/ppt/tableStyles.xml" Id="Rb67693feba3f49bc" /><Relationship Type="http://schemas.openxmlformats.org/officeDocument/2006/relationships/slide" Target="/ppt/slides/slide1.xml" Id="R3689af2bba5e4a5a" /><Relationship Type="http://schemas.openxmlformats.org/officeDocument/2006/relationships/slide" Target="/ppt/slides/slide2.xml" Id="R11a77974861b4bad" /><Relationship Type="http://schemas.openxmlformats.org/officeDocument/2006/relationships/slide" Target="/ppt/slides/slide3.xml" Id="R49073016afd14a3c" /><Relationship Type="http://schemas.openxmlformats.org/officeDocument/2006/relationships/slide" Target="/ppt/slides/slide4.xml" Id="Rebe7a294307c4dff" /><Relationship Type="http://schemas.openxmlformats.org/officeDocument/2006/relationships/slide" Target="/ppt/slides/slide5.xml" Id="Rdea94c4af0ab404c" /><Relationship Type="http://schemas.openxmlformats.org/officeDocument/2006/relationships/slide" Target="/ppt/slides/slide6.xml" Id="Rfbeffa08948e4254" /><Relationship Type="http://schemas.openxmlformats.org/officeDocument/2006/relationships/slide" Target="/ppt/slides/slide7.xml" Id="R82299f6dda584f14" /><Relationship Type="http://schemas.openxmlformats.org/officeDocument/2006/relationships/slide" Target="/ppt/slides/slide8.xml" Id="R26a84cd9b7eb42ff" /><Relationship Type="http://schemas.openxmlformats.org/officeDocument/2006/relationships/slide" Target="/ppt/slides/slide9.xml" Id="Rd3dc9038b3f242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665db01269455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c000913a7a40e4" /><Relationship Type="http://schemas.openxmlformats.org/officeDocument/2006/relationships/notesMaster" Target="/ppt/notesMasters/notesMaster1.xml" Id="Rbe05a232a679406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34f0eff69e4921" /><Relationship Type="http://schemas.openxmlformats.org/officeDocument/2006/relationships/notesMaster" Target="/ppt/notesMasters/notesMaster1.xml" Id="R0d257d8ccbc94b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57de36d30f4f7f" /><Relationship Type="http://schemas.openxmlformats.org/officeDocument/2006/relationships/notesMaster" Target="/ppt/notesMasters/notesMaster1.xml" Id="R25ad7b1429b54afd"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7fd8ffcd214c46" /><Relationship Type="http://schemas.openxmlformats.org/officeDocument/2006/relationships/notesMaster" Target="/ppt/notesMasters/notesMaster1.xml" Id="R616241765df340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83a12c35cc04c51" /><Relationship Type="http://schemas.openxmlformats.org/officeDocument/2006/relationships/notesMaster" Target="/ppt/notesMasters/notesMaster1.xml" Id="R0405aabb14ec4e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f78d068aba43e2" /><Relationship Type="http://schemas.openxmlformats.org/officeDocument/2006/relationships/notesMaster" Target="/ppt/notesMasters/notesMaster1.xml" Id="Rffb06acc86a642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f2764868034b00" /><Relationship Type="http://schemas.openxmlformats.org/officeDocument/2006/relationships/notesMaster" Target="/ppt/notesMasters/notesMaster1.xml" Id="R2b54b15d6f8348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059b8e97974d91" /><Relationship Type="http://schemas.openxmlformats.org/officeDocument/2006/relationships/notesMaster" Target="/ppt/notesMasters/notesMaster1.xml" Id="Rf587e67f20974a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60f03224534352" /><Relationship Type="http://schemas.openxmlformats.org/officeDocument/2006/relationships/notesMaster" Target="/ppt/notesMasters/notesMaster1.xml" Id="R43a02c13ac7947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Sawt al Tameen is the voice of insurance. It is an English language pre authorisation agent built on AssemblyAI. A clinic describes a request by voice, and the assistant prepares an auditable case for a qualified human reviewer. This presentation uses synthetic narration and fictional demonstration data.</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provider desk must collect the right member details, identify a treatment and understand which supporting documents are required. Missing information creates follow up work. Our prototype guides that intake conversation and makes the next step explicit. The intended users are insurer intake staff and provider authorisation desks.</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browser demo requires no account. Choose device speakers for echo protection, or headphones for spoken interruption. Start a call and speak the fictional provider and member identifiers. Live caller captions and assistant replies appear in one conversation. You can interrupt or type a correction when a detail is wrong.</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AssemblyAI handles the hosted voice interaction through its Voice Agent API, including speech recognition, the managed conversational model and spoken output. Our server bridges twenty four kilohertz browser audio and executes three schema defined tools. Verification gates coverage checks. A deterministic rules engine reads the same benefit catalogue used for citations. Credentials stay on the server.</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comes from the authenticated document acceptance run. The browser uploaded clinical notes, an operative plan and a prior treatment record, then downloaded matching bytes. In the actual AssemblyAI conversation, the assistant requested the missing documents and rechecked the same case after upload. The resulting recommendation still required human review. The document desk needs an operator access key.</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agent cannot approve or deny a request because none of its three tools provides that action. A reviewer only API and the case state machine enforce the final decision boundary. For a voice linked case, sign off remains blocked until the completed transcript is stored. The system keeps the original recommendation and the human decision separately in the audit trail.</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September thirtieth, all three hundred and ninety three Python tests and forty six JavaScript browser and audio tests passed. Twenty six public deployment checks passed. Two actual AssemblyAI conversations with a synthetic spoken caller exercised document upload and recheck, and failed verification with a callback. These are small sample workflow results. Physical speaker echo and varied human accents still need evaluation, and full procedure readback remains inconsistent.</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business hypothesis is fewer incomplete handoffs and less repeated intake work. We would offer a paid pilot to an insurer desk, measuring handling time, document completeness, identifier accuracy and cost per completed case. There are no measured savings or clinical outcomes yet. The prototype uses only fictional policies and records. A live Twilio number is not configured, and the current demonstration host must stay online during judging.</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 can test the voice agent online using the judge guide and fictional caller details. The public MIT licensed repository includes setup instructions, tests, the rules catalogue and conversation evidence. Sawt al Tameen brings a spoken request into an accountable review process. Prepared by the assistant, decided by a person.</a:t>
            </a:r>
          </a:p>
          <a:p xmlns:a="http://schemas.openxmlformats.org/drawingml/2006/main">
            <a:r>
              <a:t/>
            </a:r>
          </a:p>
          <a:p xmlns:a="http://schemas.openxmlformats.org/drawingml/2006/main">
            <a:r>
              <a:t>Evidence: Project source and docs/CONVERSATION_ACCEPTANCE.md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f7960f8d97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f73f26dffe44f1" /><Relationship Type="http://schemas.openxmlformats.org/officeDocument/2006/relationships/slideLayout" Target="/ppt/slideLayouts/slideLayout1.xml" Id="R553fa02a9cf74e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3fa02a9cf74e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a2173f438d4cda" /><Relationship Type="http://schemas.openxmlformats.org/officeDocument/2006/relationships/image" Target="/ppt/media/image.png" Id="R8b169d21cfa14465" /><Relationship Type="http://schemas.openxmlformats.org/officeDocument/2006/relationships/notesSlide" Target="/ppt/notesSlides/notesSlide1.xml" Id="Ra3c33829f42849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231c3f7eeb844be" /><Relationship Type="http://schemas.openxmlformats.org/officeDocument/2006/relationships/notesSlide" Target="/ppt/notesSlides/notesSlide2.xml" Id="Ra635a23956a9444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990d314e724fa9" /><Relationship Type="http://schemas.openxmlformats.org/officeDocument/2006/relationships/image" Target="/ppt/media/image2.png" Id="R8e3b5642a5ab45df" /><Relationship Type="http://schemas.openxmlformats.org/officeDocument/2006/relationships/notesSlide" Target="/ppt/notesSlides/notesSlide3.xml" Id="R6d5e366373cc41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4e478d3ea64c63" /><Relationship Type="http://schemas.openxmlformats.org/officeDocument/2006/relationships/notesSlide" Target="/ppt/notesSlides/notesSlide4.xml" Id="R851d3f9e520f46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e17731745f041ec" /><Relationship Type="http://schemas.openxmlformats.org/officeDocument/2006/relationships/image" Target="/ppt/media/image3.png" Id="R6947dc96a4b043a6" /><Relationship Type="http://schemas.openxmlformats.org/officeDocument/2006/relationships/notesSlide" Target="/ppt/notesSlides/notesSlide5.xml" Id="R787ee7b279814a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f1f9062e8e4ada" /><Relationship Type="http://schemas.openxmlformats.org/officeDocument/2006/relationships/notesSlide" Target="/ppt/notesSlides/notesSlide6.xml" Id="Ra9a4de0ade6d48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95fe826435f4616" /><Relationship Type="http://schemas.openxmlformats.org/officeDocument/2006/relationships/notesSlide" Target="/ppt/notesSlides/notesSlide7.xml" Id="R1528564fdc5d4c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bf3af8db0c64e9f" /><Relationship Type="http://schemas.openxmlformats.org/officeDocument/2006/relationships/notesSlide" Target="/ppt/notesSlides/notesSlide8.xml" Id="R53ff4ac3e85342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d7606cef61e426a" /><Relationship Type="http://schemas.openxmlformats.org/officeDocument/2006/relationships/notesSlide" Target="/ppt/notesSlides/notesSlide9.xml" Id="R9b8be5bb6fa84dd8" /></Relationships>
</file>

<file path=ppt/slides/slide1.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8993B8-44B9-441A-99BD-716588FD7C58}"/>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Sawt al-Tameen</a:t>
            </a:r>
          </a:p>
        </p:txBody>
      </p:sp>
      <p:sp>
        <p:nvSpPr>
          <p:cNvPr id="2" name="">
            <a:extLst xmlns:a="http://schemas.openxmlformats.org/drawingml/2006/main">
              <a:ext uri="{FF2B5EF4-FFF2-40B4-BE49-F238E27FC236}">
                <a16:creationId xmlns:a16="http://schemas.microsoft.com/office/drawing/2014/main" id="{A8D88659-4277-47CE-8159-F7EFF9B08F24}"/>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1</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8b169d21cfa14465"/>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407696808"/>
      </p:ext>
    </p:extLst>
  </p:cSld>
</p:sld>
</file>

<file path=ppt/slides/slide2.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37FB60-E53A-4FDA-8F80-C729A8BF44E4}"/>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Pre-authorisation intake</a:t>
            </a:r>
          </a:p>
        </p:txBody>
      </p:sp>
      <p:sp>
        <p:nvSpPr>
          <p:cNvPr id="2" name="">
            <a:extLst xmlns:a="http://schemas.openxmlformats.org/drawingml/2006/main">
              <a:ext uri="{FF2B5EF4-FFF2-40B4-BE49-F238E27FC236}">
                <a16:creationId xmlns:a16="http://schemas.microsoft.com/office/drawing/2014/main" id="{5500AB4C-8B02-42F9-9F8D-C615C3F5FFB7}"/>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2</a:t>
            </a:r>
          </a:p>
        </p:txBody>
      </p:sp>
      <p:sp>
        <p:nvSpPr>
          <p:cNvPr id="3" name="">
            <a:extLst xmlns:a="http://schemas.openxmlformats.org/drawingml/2006/main">
              <a:ext uri="{FF2B5EF4-FFF2-40B4-BE49-F238E27FC236}">
                <a16:creationId xmlns:a16="http://schemas.microsoft.com/office/drawing/2014/main" id="{4FC910FE-2ED2-488E-AD6B-496D56360AB5}"/>
              </a:ext>
            </a:extLst>
          </p:cNvPr>
          <p:cNvSpPr>
            <a:spLocks xmlns:a="http://schemas.openxmlformats.org/drawingml/2006/main" noGrp="1"/>
          </p:cNvSpPr>
          <p:nvPr/>
        </p:nvSpPr>
        <p:spPr>
          <a:xfrm xmlns:a="http://schemas.openxmlformats.org/drawingml/2006/main">
            <a:off x="609600" y="17621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A1848"/>
                </a:solidFill>
                <a:latin typeface="Arial"/>
                <a:ea typeface="Arial"/>
                <a:cs typeface="Arial"/>
              </a:defRPr>
            </a:pPr>
            <a:r>
              <a:rPr sz="3000" b="1">
                <a:solidFill>
                  <a:srgbClr val="1A1848"/>
                </a:solidFill>
                <a:latin typeface="Arial"/>
                <a:ea typeface="Arial"/>
                <a:cs typeface="Arial"/>
              </a:rPr>
              <a:t>The clinic needs a clear next step</a:t>
            </a:r>
          </a:p>
        </p:txBody>
      </p:sp>
      <p:sp>
        <p:nvSpPr>
          <p:cNvPr id="4" name="">
            <a:extLst xmlns:a="http://schemas.openxmlformats.org/drawingml/2006/main">
              <a:ext uri="{FF2B5EF4-FFF2-40B4-BE49-F238E27FC236}">
                <a16:creationId xmlns:a16="http://schemas.microsoft.com/office/drawing/2014/main" id="{72AD2A45-EE54-4D3D-872F-959B18534DB5}"/>
              </a:ext>
            </a:extLst>
          </p:cNvPr>
          <p:cNvSpPr>
            <a:spLocks xmlns:a="http://schemas.openxmlformats.org/drawingml/2006/main" noGrp="1"/>
          </p:cNvSpPr>
          <p:nvPr/>
        </p:nvSpPr>
        <p:spPr>
          <a:xfrm xmlns:a="http://schemas.openxmlformats.org/drawingml/2006/main">
            <a:off x="609600" y="2667000"/>
            <a:ext cx="10096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A1848"/>
                </a:solidFill>
                <a:latin typeface="Arial"/>
                <a:ea typeface="Arial"/>
                <a:cs typeface="Arial"/>
              </a:defRPr>
            </a:pPr>
            <a:r>
              <a:rPr sz="2400" b="0">
                <a:solidFill>
                  <a:srgbClr val="1A1848"/>
                </a:solidFill>
                <a:latin typeface="Arial"/>
                <a:ea typeface="Arial"/>
                <a:cs typeface="Arial"/>
              </a:rPr>
              <a:t>A request starts with identity, procedure, cost and date.</a:t>
            </a:r>
          </a:p>
          <a:p xmlns:a="http://schemas.openxmlformats.org/drawingml/2006/main">
            <a:r>
              <a:t/>
            </a:r>
          </a:p>
          <a:p xmlns:a="http://schemas.openxmlformats.org/drawingml/2006/main">
            <a:pPr>
              <a:defRPr sz="2400" b="0">
                <a:solidFill>
                  <a:srgbClr val="1A1848"/>
                </a:solidFill>
                <a:latin typeface="Arial"/>
                <a:ea typeface="Arial"/>
                <a:cs typeface="Arial"/>
              </a:defRPr>
            </a:pPr>
            <a:r>
              <a:rPr sz="2400" b="0">
                <a:solidFill>
                  <a:srgbClr val="1A1848"/>
                </a:solidFill>
                <a:latin typeface="Arial"/>
                <a:ea typeface="Arial"/>
                <a:cs typeface="Arial"/>
              </a:rPr>
              <a:t>Missing documents need a specific follow-up.</a:t>
            </a:r>
          </a:p>
          <a:p xmlns:a="http://schemas.openxmlformats.org/drawingml/2006/main">
            <a:r>
              <a:t/>
            </a:r>
          </a:p>
          <a:p xmlns:a="http://schemas.openxmlformats.org/drawingml/2006/main">
            <a:pPr>
              <a:defRPr sz="2400" b="0">
                <a:solidFill>
                  <a:srgbClr val="1A1848"/>
                </a:solidFill>
                <a:latin typeface="Arial"/>
                <a:ea typeface="Arial"/>
                <a:cs typeface="Arial"/>
              </a:defRPr>
            </a:pPr>
            <a:r>
              <a:rPr sz="2400" b="0">
                <a:solidFill>
                  <a:srgbClr val="1A1848"/>
                </a:solidFill>
                <a:latin typeface="Arial"/>
                <a:ea typeface="Arial"/>
                <a:cs typeface="Arial"/>
              </a:rPr>
              <a:t>The reviewer needs the case and its conversation.</a:t>
            </a:r>
          </a:p>
        </p:txBody>
      </p:sp>
    </p:spTree>
    <p:extLst>
      <p:ext uri="{BB962C8B-B14F-4D97-AF65-F5344CB8AC3E}">
        <p14:creationId xmlns:p14="http://schemas.microsoft.com/office/powerpoint/2010/main" val="1661930675"/>
      </p:ext>
    </p:extLst>
  </p:cSld>
</p:sld>
</file>

<file path=ppt/slides/slide3.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98D7ED-5EC8-476D-91E5-62141434CB27}"/>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The browser voice demo</a:t>
            </a:r>
          </a:p>
        </p:txBody>
      </p:sp>
      <p:sp>
        <p:nvSpPr>
          <p:cNvPr id="2" name="">
            <a:extLst xmlns:a="http://schemas.openxmlformats.org/drawingml/2006/main">
              <a:ext uri="{FF2B5EF4-FFF2-40B4-BE49-F238E27FC236}">
                <a16:creationId xmlns:a16="http://schemas.microsoft.com/office/drawing/2014/main" id="{F9B77AC1-3826-4DB1-91D8-66BB7C198404}"/>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3</a:t>
            </a:r>
          </a:p>
        </p:txBody>
      </p:sp>
      <p:sp>
        <p:nvSpPr>
          <p:cNvPr id="3" name="">
            <a:extLst xmlns:a="http://schemas.openxmlformats.org/drawingml/2006/main">
              <a:ext uri="{FF2B5EF4-FFF2-40B4-BE49-F238E27FC236}">
                <a16:creationId xmlns:a16="http://schemas.microsoft.com/office/drawing/2014/main" id="{84946D84-C193-413A-B5FC-E25B65BBA10E}"/>
              </a:ext>
            </a:extLst>
          </p:cNvPr>
          <p:cNvSpPr>
            <a:spLocks xmlns:a="http://schemas.openxmlformats.org/drawingml/2006/main" noGrp="1"/>
          </p:cNvSpPr>
          <p:nvPr/>
        </p:nvSpPr>
        <p:spPr>
          <a:xfrm xmlns:a="http://schemas.openxmlformats.org/drawingml/2006/main">
            <a:off x="609600" y="1762125"/>
            <a:ext cx="3238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Live conversation</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Caller captions</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Typed corrections</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English and AED</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8e3b5642a5ab45df"/>
          <a:stretch xmlns:a="http://schemas.openxmlformats.org/drawingml/2006/main"/>
        </p:blipFill>
        <p:spPr>
          <a:xfrm xmlns:a="http://schemas.openxmlformats.org/drawingml/2006/main">
            <a:off x="5527704" y="1476375"/>
            <a:ext cx="4565592" cy="4524375"/>
          </a:xfrm>
          <a:prstGeom xmlns:a="http://schemas.openxmlformats.org/drawingml/2006/main" prst="rect">
            <a:avLst/>
          </a:prstGeom>
        </p:spPr>
      </p:pic>
    </p:spTree>
    <p:extLst>
      <p:ext uri="{BB962C8B-B14F-4D97-AF65-F5344CB8AC3E}">
        <p14:creationId xmlns:p14="http://schemas.microsoft.com/office/powerpoint/2010/main" val="572785701"/>
      </p:ext>
    </p:extLst>
  </p:cSld>
</p:sld>
</file>

<file path=ppt/slides/slide4.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CDD0AA-6345-4B9D-93F5-E46505288B4C}"/>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AssemblyAI and the case backend</a:t>
            </a:r>
          </a:p>
        </p:txBody>
      </p:sp>
      <p:sp>
        <p:nvSpPr>
          <p:cNvPr id="2" name="">
            <a:extLst xmlns:a="http://schemas.openxmlformats.org/drawingml/2006/main">
              <a:ext uri="{FF2B5EF4-FFF2-40B4-BE49-F238E27FC236}">
                <a16:creationId xmlns:a16="http://schemas.microsoft.com/office/drawing/2014/main" id="{CD8D4D50-81B5-4685-9ECA-5EDB6E2660D5}"/>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4</a:t>
            </a:r>
          </a:p>
        </p:txBody>
      </p:sp>
      <p:sp>
        <p:nvSpPr>
          <p:cNvPr id="3" name="">
            <a:extLst xmlns:a="http://schemas.openxmlformats.org/drawingml/2006/main">
              <a:ext uri="{FF2B5EF4-FFF2-40B4-BE49-F238E27FC236}">
                <a16:creationId xmlns:a16="http://schemas.microsoft.com/office/drawing/2014/main" id="{121D4DD3-091D-4B95-A9A0-38ABF0A193AF}"/>
              </a:ext>
            </a:extLst>
          </p:cNvPr>
          <p:cNvSpPr>
            <a:spLocks xmlns:a="http://schemas.openxmlformats.org/drawingml/2006/main" noGrp="1"/>
          </p:cNvSpPr>
          <p:nvPr/>
        </p:nvSpPr>
        <p:spPr>
          <a:xfrm xmlns:a="http://schemas.openxmlformats.org/drawingml/2006/main">
            <a:off x="609600" y="17145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A1848"/>
                </a:solidFill>
                <a:latin typeface="Arial"/>
                <a:ea typeface="Arial"/>
                <a:cs typeface="Arial"/>
              </a:defRPr>
            </a:pPr>
            <a:r>
              <a:rPr sz="2700" b="1">
                <a:solidFill>
                  <a:srgbClr val="1A1848"/>
                </a:solidFill>
                <a:latin typeface="Arial"/>
                <a:ea typeface="Arial"/>
                <a:cs typeface="Arial"/>
              </a:rPr>
              <a:t>AssemblyAI Voice Agent API</a:t>
            </a:r>
          </a:p>
        </p:txBody>
      </p:sp>
      <p:sp>
        <p:nvSpPr>
          <p:cNvPr id="4" name="">
            <a:extLst xmlns:a="http://schemas.openxmlformats.org/drawingml/2006/main">
              <a:ext uri="{FF2B5EF4-FFF2-40B4-BE49-F238E27FC236}">
                <a16:creationId xmlns:a16="http://schemas.microsoft.com/office/drawing/2014/main" id="{2C642A57-2F92-4D40-921A-95633E45202D}"/>
              </a:ext>
            </a:extLst>
          </p:cNvPr>
          <p:cNvSpPr>
            <a:spLocks xmlns:a="http://schemas.openxmlformats.org/drawingml/2006/main" noGrp="1"/>
          </p:cNvSpPr>
          <p:nvPr/>
        </p:nvSpPr>
        <p:spPr>
          <a:xfrm xmlns:a="http://schemas.openxmlformats.org/drawingml/2006/main">
            <a:off x="609600" y="22764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E5B85"/>
                </a:solidFill>
                <a:latin typeface="Arial"/>
                <a:ea typeface="Arial"/>
                <a:cs typeface="Arial"/>
              </a:defRPr>
            </a:pPr>
            <a:r>
              <a:rPr sz="2100" b="0">
                <a:solidFill>
                  <a:srgbClr val="5E5B85"/>
                </a:solidFill>
                <a:latin typeface="Arial"/>
                <a:ea typeface="Arial"/>
                <a:cs typeface="Arial"/>
              </a:rPr>
              <a:t>Speech recognition, managed model, voice output and turn handling</a:t>
            </a:r>
          </a:p>
        </p:txBody>
      </p:sp>
      <p:sp>
        <p:nvSpPr>
          <p:cNvPr id="5" name="">
            <a:extLst xmlns:a="http://schemas.openxmlformats.org/drawingml/2006/main">
              <a:ext uri="{FF2B5EF4-FFF2-40B4-BE49-F238E27FC236}">
                <a16:creationId xmlns:a16="http://schemas.microsoft.com/office/drawing/2014/main" id="{409C9EF9-061D-4241-806F-403F12BF8EF8}"/>
              </a:ext>
            </a:extLst>
          </p:cNvPr>
          <p:cNvSpPr>
            <a:spLocks xmlns:a="http://schemas.openxmlformats.org/drawingml/2006/main" noGrp="1"/>
          </p:cNvSpPr>
          <p:nvPr/>
        </p:nvSpPr>
        <p:spPr>
          <a:xfrm xmlns:a="http://schemas.openxmlformats.org/drawingml/2006/main">
            <a:off x="609600" y="32194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A1848"/>
                </a:solidFill>
                <a:latin typeface="Arial"/>
                <a:ea typeface="Arial"/>
                <a:cs typeface="Arial"/>
              </a:defRPr>
            </a:pPr>
            <a:r>
              <a:rPr sz="2700" b="1">
                <a:solidFill>
                  <a:srgbClr val="1A1848"/>
                </a:solidFill>
                <a:latin typeface="Arial"/>
                <a:ea typeface="Arial"/>
                <a:cs typeface="Arial"/>
              </a:rPr>
              <a:t>FastAPI executes the business tools</a:t>
            </a:r>
          </a:p>
        </p:txBody>
      </p:sp>
      <p:sp>
        <p:nvSpPr>
          <p:cNvPr id="6" name="">
            <a:extLst xmlns:a="http://schemas.openxmlformats.org/drawingml/2006/main">
              <a:ext uri="{FF2B5EF4-FFF2-40B4-BE49-F238E27FC236}">
                <a16:creationId xmlns:a16="http://schemas.microsoft.com/office/drawing/2014/main" id="{71AAC002-4B7A-40B8-894B-82C336EB1FEA}"/>
              </a:ext>
            </a:extLst>
          </p:cNvPr>
          <p:cNvSpPr>
            <a:spLocks xmlns:a="http://schemas.openxmlformats.org/drawingml/2006/main" noGrp="1"/>
          </p:cNvSpPr>
          <p:nvPr/>
        </p:nvSpPr>
        <p:spPr>
          <a:xfrm xmlns:a="http://schemas.openxmlformats.org/drawingml/2006/main">
            <a:off x="609600" y="3848100"/>
            <a:ext cx="4524375"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verify_caller</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check_coverage_rule</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log_transcript</a:t>
            </a:r>
          </a:p>
        </p:txBody>
      </p:sp>
      <p:sp>
        <p:nvSpPr>
          <p:cNvPr id="7" name="">
            <a:extLst xmlns:a="http://schemas.openxmlformats.org/drawingml/2006/main">
              <a:ext uri="{FF2B5EF4-FFF2-40B4-BE49-F238E27FC236}">
                <a16:creationId xmlns:a16="http://schemas.microsoft.com/office/drawing/2014/main" id="{4F0608CB-6176-4574-89B7-3D79E3B0FB17}"/>
              </a:ext>
            </a:extLst>
          </p:cNvPr>
          <p:cNvSpPr>
            <a:spLocks xmlns:a="http://schemas.openxmlformats.org/drawingml/2006/main" noGrp="1"/>
          </p:cNvSpPr>
          <p:nvPr/>
        </p:nvSpPr>
        <p:spPr>
          <a:xfrm xmlns:a="http://schemas.openxmlformats.org/drawingml/2006/main">
            <a:off x="5381625" y="3848100"/>
            <a:ext cx="5810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Four synthetic policy tiers</a:t>
            </a:r>
          </a:p>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50 procedures and eight escalation rules</a:t>
            </a:r>
          </a:p>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Rule citations and case audit history</a:t>
            </a:r>
          </a:p>
        </p:txBody>
      </p:sp>
    </p:spTree>
    <p:extLst>
      <p:ext uri="{BB962C8B-B14F-4D97-AF65-F5344CB8AC3E}">
        <p14:creationId xmlns:p14="http://schemas.microsoft.com/office/powerpoint/2010/main" val="1965954151"/>
      </p:ext>
    </p:extLst>
  </p:cSld>
</p:sld>
</file>

<file path=ppt/slides/slide5.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EB456F-742D-43BE-B7D5-78C97C269C0E}"/>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Documents and a same-case recheck</a:t>
            </a:r>
          </a:p>
        </p:txBody>
      </p:sp>
      <p:sp>
        <p:nvSpPr>
          <p:cNvPr id="2" name="">
            <a:extLst xmlns:a="http://schemas.openxmlformats.org/drawingml/2006/main">
              <a:ext uri="{FF2B5EF4-FFF2-40B4-BE49-F238E27FC236}">
                <a16:creationId xmlns:a16="http://schemas.microsoft.com/office/drawing/2014/main" id="{CD796B36-539B-4D23-9C6D-2D45B1343DB6}"/>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5</a:t>
            </a:r>
          </a:p>
        </p:txBody>
      </p:sp>
      <p:sp>
        <p:nvSpPr>
          <p:cNvPr id="3" name="">
            <a:extLst xmlns:a="http://schemas.openxmlformats.org/drawingml/2006/main">
              <a:ext uri="{FF2B5EF4-FFF2-40B4-BE49-F238E27FC236}">
                <a16:creationId xmlns:a16="http://schemas.microsoft.com/office/drawing/2014/main" id="{86BD2AD9-242C-4EF9-B0F4-F23B473C0BF5}"/>
              </a:ext>
            </a:extLst>
          </p:cNvPr>
          <p:cNvSpPr>
            <a:spLocks xmlns:a="http://schemas.openxmlformats.org/drawingml/2006/main" noGrp="1"/>
          </p:cNvSpPr>
          <p:nvPr/>
        </p:nvSpPr>
        <p:spPr>
          <a:xfrm xmlns:a="http://schemas.openxmlformats.org/drawingml/2006/main">
            <a:off x="609600" y="1666875"/>
            <a:ext cx="3524250"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Three required documents</a:t>
            </a:r>
          </a:p>
          <a:p xmlns:a="http://schemas.openxmlformats.org/drawingml/2006/main">
            <a:r>
              <a:t/>
            </a:r>
          </a:p>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Authenticated upload</a:t>
            </a:r>
          </a:p>
          <a:p xmlns:a="http://schemas.openxmlformats.org/drawingml/2006/main">
            <a:r>
              <a:t/>
            </a:r>
          </a:p>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Requirements refresh</a:t>
            </a:r>
          </a:p>
          <a:p xmlns:a="http://schemas.openxmlformats.org/drawingml/2006/main">
            <a:r>
              <a:t/>
            </a:r>
          </a:p>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Same case, new evaluation</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6947dc96a4b043a6"/>
          <a:stretch xmlns:a="http://schemas.openxmlformats.org/drawingml/2006/main"/>
        </p:blipFill>
        <p:spPr>
          <a:xfrm xmlns:a="http://schemas.openxmlformats.org/drawingml/2006/main">
            <a:off x="5560435" y="1476375"/>
            <a:ext cx="4738255" cy="4524375"/>
          </a:xfrm>
          <a:prstGeom xmlns:a="http://schemas.openxmlformats.org/drawingml/2006/main" prst="rect">
            <a:avLst/>
          </a:prstGeom>
        </p:spPr>
      </p:pic>
    </p:spTree>
    <p:extLst>
      <p:ext uri="{BB962C8B-B14F-4D97-AF65-F5344CB8AC3E}">
        <p14:creationId xmlns:p14="http://schemas.microsoft.com/office/powerpoint/2010/main" val="1535696664"/>
      </p:ext>
    </p:extLst>
  </p:cSld>
</p:sld>
</file>

<file path=ppt/slides/slide6.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90B753-F0AF-4A8A-886A-1694DA44791D}"/>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Human decision authority</a:t>
            </a:r>
          </a:p>
        </p:txBody>
      </p:sp>
      <p:sp>
        <p:nvSpPr>
          <p:cNvPr id="2" name="">
            <a:extLst xmlns:a="http://schemas.openxmlformats.org/drawingml/2006/main">
              <a:ext uri="{FF2B5EF4-FFF2-40B4-BE49-F238E27FC236}">
                <a16:creationId xmlns:a16="http://schemas.microsoft.com/office/drawing/2014/main" id="{7E2CD5AA-824E-4C7A-9578-AF483BF3A996}"/>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6</a:t>
            </a:r>
          </a:p>
        </p:txBody>
      </p:sp>
      <p:sp>
        <p:nvSpPr>
          <p:cNvPr id="3" name="">
            <a:extLst xmlns:a="http://schemas.openxmlformats.org/drawingml/2006/main">
              <a:ext uri="{FF2B5EF4-FFF2-40B4-BE49-F238E27FC236}">
                <a16:creationId xmlns:a16="http://schemas.microsoft.com/office/drawing/2014/main" id="{D82F50D1-1042-4A86-9FCA-E1DFAAAD1DAD}"/>
              </a:ext>
            </a:extLst>
          </p:cNvPr>
          <p:cNvSpPr>
            <a:spLocks xmlns:a="http://schemas.openxmlformats.org/drawingml/2006/main" noGrp="1"/>
          </p:cNvSpPr>
          <p:nvPr/>
        </p:nvSpPr>
        <p:spPr>
          <a:xfrm xmlns:a="http://schemas.openxmlformats.org/drawingml/2006/main">
            <a:off x="609600" y="17145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A1848"/>
                </a:solidFill>
                <a:latin typeface="Arial"/>
                <a:ea typeface="Arial"/>
                <a:cs typeface="Arial"/>
              </a:defRPr>
            </a:pPr>
            <a:r>
              <a:rPr sz="2850" b="1">
                <a:solidFill>
                  <a:srgbClr val="1A1848"/>
                </a:solidFill>
                <a:latin typeface="Arial"/>
                <a:ea typeface="Arial"/>
                <a:cs typeface="Arial"/>
              </a:rPr>
              <a:t>The voice agent prepares a recommendation</a:t>
            </a:r>
          </a:p>
        </p:txBody>
      </p:sp>
      <p:sp>
        <p:nvSpPr>
          <p:cNvPr id="4" name="">
            <a:extLst xmlns:a="http://schemas.openxmlformats.org/drawingml/2006/main">
              <a:ext uri="{FF2B5EF4-FFF2-40B4-BE49-F238E27FC236}">
                <a16:creationId xmlns:a16="http://schemas.microsoft.com/office/drawing/2014/main" id="{1D5E6826-78E1-4627-9A77-420C4671811F}"/>
              </a:ext>
            </a:extLst>
          </p:cNvPr>
          <p:cNvSpPr>
            <a:spLocks xmlns:a="http://schemas.openxmlformats.org/drawingml/2006/main" noGrp="1"/>
          </p:cNvSpPr>
          <p:nvPr/>
        </p:nvSpPr>
        <p:spPr>
          <a:xfrm xmlns:a="http://schemas.openxmlformats.org/drawingml/2006/main">
            <a:off x="609600" y="2638425"/>
            <a:ext cx="104775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No approval or denial tool</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Reviewer role required for a final decision</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Completed transcript required before sign-off</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Recommendation and decision retained separately</a:t>
            </a:r>
          </a:p>
        </p:txBody>
      </p:sp>
    </p:spTree>
    <p:extLst>
      <p:ext uri="{BB962C8B-B14F-4D97-AF65-F5344CB8AC3E}">
        <p14:creationId xmlns:p14="http://schemas.microsoft.com/office/powerpoint/2010/main" val="18223711"/>
      </p:ext>
    </p:extLst>
  </p:cSld>
</p:sld>
</file>

<file path=ppt/slides/slide7.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464E77-EE27-430D-9A08-DBC4F2840F8A}"/>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Evidence from the prototype</a:t>
            </a:r>
          </a:p>
        </p:txBody>
      </p:sp>
      <p:sp>
        <p:nvSpPr>
          <p:cNvPr id="2" name="">
            <a:extLst xmlns:a="http://schemas.openxmlformats.org/drawingml/2006/main">
              <a:ext uri="{FF2B5EF4-FFF2-40B4-BE49-F238E27FC236}">
                <a16:creationId xmlns:a16="http://schemas.microsoft.com/office/drawing/2014/main" id="{ABE19149-CD23-4F5E-9474-2C4518BDACAB}"/>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7</a:t>
            </a:r>
          </a:p>
        </p:txBody>
      </p:sp>
      <p:sp>
        <p:nvSpPr>
          <p:cNvPr id="3" name="">
            <a:extLst xmlns:a="http://schemas.openxmlformats.org/drawingml/2006/main">
              <a:ext uri="{FF2B5EF4-FFF2-40B4-BE49-F238E27FC236}">
                <a16:creationId xmlns:a16="http://schemas.microsoft.com/office/drawing/2014/main" id="{347B1ECF-0C4A-40E3-B9CC-1BC1DA8F6114}"/>
              </a:ext>
            </a:extLst>
          </p:cNvPr>
          <p:cNvSpPr>
            <a:spLocks xmlns:a="http://schemas.openxmlformats.org/drawingml/2006/main" noGrp="1"/>
          </p:cNvSpPr>
          <p:nvPr/>
        </p:nvSpPr>
        <p:spPr>
          <a:xfrm xmlns:a="http://schemas.openxmlformats.org/drawingml/2006/main">
            <a:off x="609600" y="1762125"/>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A1848"/>
                </a:solidFill>
                <a:latin typeface="Arial"/>
                <a:ea typeface="Arial"/>
                <a:cs typeface="Arial"/>
              </a:defRPr>
            </a:pPr>
            <a:r>
              <a:rPr sz="5700" b="1">
                <a:solidFill>
                  <a:srgbClr val="1A1848"/>
                </a:solidFill>
                <a:latin typeface="Arial"/>
                <a:ea typeface="Arial"/>
                <a:cs typeface="Arial"/>
              </a:rPr>
              <a:t>393</a:t>
            </a:r>
          </a:p>
        </p:txBody>
      </p:sp>
      <p:sp>
        <p:nvSpPr>
          <p:cNvPr id="4" name="">
            <a:extLst xmlns:a="http://schemas.openxmlformats.org/drawingml/2006/main">
              <a:ext uri="{FF2B5EF4-FFF2-40B4-BE49-F238E27FC236}">
                <a16:creationId xmlns:a16="http://schemas.microsoft.com/office/drawing/2014/main" id="{4A16D644-1FCE-4BE4-8E50-9B40900D597E}"/>
              </a:ext>
            </a:extLst>
          </p:cNvPr>
          <p:cNvSpPr>
            <a:spLocks xmlns:a="http://schemas.openxmlformats.org/drawingml/2006/main" noGrp="1"/>
          </p:cNvSpPr>
          <p:nvPr/>
        </p:nvSpPr>
        <p:spPr>
          <a:xfrm xmlns:a="http://schemas.openxmlformats.org/drawingml/2006/main">
            <a:off x="609600" y="2762250"/>
            <a:ext cx="3905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E5B85"/>
                </a:solidFill>
                <a:latin typeface="Arial"/>
                <a:ea typeface="Arial"/>
                <a:cs typeface="Arial"/>
              </a:defRPr>
            </a:pPr>
            <a:r>
              <a:rPr sz="2025" b="0">
                <a:solidFill>
                  <a:srgbClr val="5E5B85"/>
                </a:solidFill>
                <a:latin typeface="Arial"/>
                <a:ea typeface="Arial"/>
                <a:cs typeface="Arial"/>
              </a:rPr>
              <a:t>Python tests passed</a:t>
            </a:r>
          </a:p>
        </p:txBody>
      </p:sp>
      <p:sp>
        <p:nvSpPr>
          <p:cNvPr id="5" name="">
            <a:extLst xmlns:a="http://schemas.openxmlformats.org/drawingml/2006/main">
              <a:ext uri="{FF2B5EF4-FFF2-40B4-BE49-F238E27FC236}">
                <a16:creationId xmlns:a16="http://schemas.microsoft.com/office/drawing/2014/main" id="{8B7B7DD7-7E39-43EF-A4F4-A3C83F279F23}"/>
              </a:ext>
            </a:extLst>
          </p:cNvPr>
          <p:cNvSpPr>
            <a:spLocks xmlns:a="http://schemas.openxmlformats.org/drawingml/2006/main" noGrp="1"/>
          </p:cNvSpPr>
          <p:nvPr/>
        </p:nvSpPr>
        <p:spPr>
          <a:xfrm xmlns:a="http://schemas.openxmlformats.org/drawingml/2006/main">
            <a:off x="5905500" y="176212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A1848"/>
                </a:solidFill>
                <a:latin typeface="Arial"/>
                <a:ea typeface="Arial"/>
                <a:cs typeface="Arial"/>
              </a:defRPr>
            </a:pPr>
            <a:r>
              <a:rPr sz="5700" b="1">
                <a:solidFill>
                  <a:srgbClr val="1A1848"/>
                </a:solidFill>
                <a:latin typeface="Arial"/>
                <a:ea typeface="Arial"/>
                <a:cs typeface="Arial"/>
              </a:rPr>
              <a:t>46</a:t>
            </a:r>
          </a:p>
        </p:txBody>
      </p:sp>
      <p:sp>
        <p:nvSpPr>
          <p:cNvPr id="6" name="">
            <a:extLst xmlns:a="http://schemas.openxmlformats.org/drawingml/2006/main">
              <a:ext uri="{FF2B5EF4-FFF2-40B4-BE49-F238E27FC236}">
                <a16:creationId xmlns:a16="http://schemas.microsoft.com/office/drawing/2014/main" id="{5E33686D-D72F-4A9F-A0CD-08D407448A0B}"/>
              </a:ext>
            </a:extLst>
          </p:cNvPr>
          <p:cNvSpPr>
            <a:spLocks xmlns:a="http://schemas.openxmlformats.org/drawingml/2006/main" noGrp="1"/>
          </p:cNvSpPr>
          <p:nvPr/>
        </p:nvSpPr>
        <p:spPr>
          <a:xfrm xmlns:a="http://schemas.openxmlformats.org/drawingml/2006/main">
            <a:off x="5905500" y="27622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E5B85"/>
                </a:solidFill>
                <a:latin typeface="Arial"/>
                <a:ea typeface="Arial"/>
                <a:cs typeface="Arial"/>
              </a:defRPr>
            </a:pPr>
            <a:r>
              <a:rPr sz="2025" b="0">
                <a:solidFill>
                  <a:srgbClr val="5E5B85"/>
                </a:solidFill>
                <a:latin typeface="Arial"/>
                <a:ea typeface="Arial"/>
                <a:cs typeface="Arial"/>
              </a:rPr>
              <a:t>Browser and audio tests passed</a:t>
            </a:r>
          </a:p>
        </p:txBody>
      </p:sp>
      <p:sp>
        <p:nvSpPr>
          <p:cNvPr id="7" name="">
            <a:extLst xmlns:a="http://schemas.openxmlformats.org/drawingml/2006/main">
              <a:ext uri="{FF2B5EF4-FFF2-40B4-BE49-F238E27FC236}">
                <a16:creationId xmlns:a16="http://schemas.microsoft.com/office/drawing/2014/main" id="{45A4AB35-7CE9-4CF5-8A1A-733132F9E6CD}"/>
              </a:ext>
            </a:extLst>
          </p:cNvPr>
          <p:cNvSpPr>
            <a:spLocks xmlns:a="http://schemas.openxmlformats.org/drawingml/2006/main" noGrp="1"/>
          </p:cNvSpPr>
          <p:nvPr/>
        </p:nvSpPr>
        <p:spPr>
          <a:xfrm xmlns:a="http://schemas.openxmlformats.org/drawingml/2006/main">
            <a:off x="609600" y="37338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A1848"/>
                </a:solidFill>
                <a:latin typeface="Arial"/>
                <a:ea typeface="Arial"/>
                <a:cs typeface="Arial"/>
              </a:defRPr>
            </a:pPr>
            <a:r>
              <a:rPr sz="2550" b="1">
                <a:solidFill>
                  <a:srgbClr val="1A1848"/>
                </a:solidFill>
                <a:latin typeface="Arial"/>
                <a:ea typeface="Arial"/>
                <a:cs typeface="Arial"/>
              </a:rPr>
              <a:t>26 public deployment checks passed</a:t>
            </a:r>
          </a:p>
        </p:txBody>
      </p:sp>
      <p:sp>
        <p:nvSpPr>
          <p:cNvPr id="8" name="">
            <a:extLst xmlns:a="http://schemas.openxmlformats.org/drawingml/2006/main">
              <a:ext uri="{FF2B5EF4-FFF2-40B4-BE49-F238E27FC236}">
                <a16:creationId xmlns:a16="http://schemas.microsoft.com/office/drawing/2014/main" id="{A8142CA3-5B5B-4B01-8271-DC2E5E40B10D}"/>
              </a:ext>
            </a:extLst>
          </p:cNvPr>
          <p:cNvSpPr>
            <a:spLocks xmlns:a="http://schemas.openxmlformats.org/drawingml/2006/main" noGrp="1"/>
          </p:cNvSpPr>
          <p:nvPr/>
        </p:nvSpPr>
        <p:spPr>
          <a:xfrm xmlns:a="http://schemas.openxmlformats.org/drawingml/2006/main">
            <a:off x="609600" y="44386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A1848"/>
                </a:solidFill>
                <a:latin typeface="Arial"/>
                <a:ea typeface="Arial"/>
                <a:cs typeface="Arial"/>
              </a:defRPr>
            </a:pPr>
            <a:r>
              <a:rPr sz="2100" b="0">
                <a:solidFill>
                  <a:srgbClr val="1A1848"/>
                </a:solidFill>
                <a:latin typeface="Arial"/>
                <a:ea typeface="Arial"/>
                <a:cs typeface="Arial"/>
              </a:rPr>
              <a:t>Two completed AssemblyAI conversations with a synthetic caller</a:t>
            </a:r>
          </a:p>
        </p:txBody>
      </p:sp>
      <p:sp>
        <p:nvSpPr>
          <p:cNvPr id="9" name="">
            <a:extLst xmlns:a="http://schemas.openxmlformats.org/drawingml/2006/main">
              <a:ext uri="{FF2B5EF4-FFF2-40B4-BE49-F238E27FC236}">
                <a16:creationId xmlns:a16="http://schemas.microsoft.com/office/drawing/2014/main" id="{10C9743F-8E2E-4591-B54F-080EE823D69E}"/>
              </a:ext>
            </a:extLst>
          </p:cNvPr>
          <p:cNvSpPr>
            <a:spLocks xmlns:a="http://schemas.openxmlformats.org/drawingml/2006/main" noGrp="1"/>
          </p:cNvSpPr>
          <p:nvPr/>
        </p:nvSpPr>
        <p:spPr>
          <a:xfrm xmlns:a="http://schemas.openxmlformats.org/drawingml/2006/main">
            <a:off x="609600" y="541020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6800"/>
                </a:solidFill>
                <a:latin typeface="Arial"/>
                <a:ea typeface="Arial"/>
                <a:cs typeface="Arial"/>
              </a:defRPr>
            </a:pPr>
            <a:r>
              <a:rPr sz="1875" b="0">
                <a:solidFill>
                  <a:srgbClr val="A96800"/>
                </a:solidFill>
                <a:latin typeface="Arial"/>
                <a:ea typeface="Arial"/>
                <a:cs typeface="Arial"/>
              </a:rPr>
              <a:t>Limits: procedure readback, physical echo and varied accents</a:t>
            </a:r>
          </a:p>
        </p:txBody>
      </p:sp>
    </p:spTree>
    <p:extLst>
      <p:ext uri="{BB962C8B-B14F-4D97-AF65-F5344CB8AC3E}">
        <p14:creationId xmlns:p14="http://schemas.microsoft.com/office/powerpoint/2010/main" val="40626865"/>
      </p:ext>
    </p:extLst>
  </p:cSld>
</p:sld>
</file>

<file path=ppt/slides/slide8.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94C760-DC98-4BD2-A6E7-26F53AB4BE24}"/>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Business value and the next pilot</a:t>
            </a:r>
          </a:p>
        </p:txBody>
      </p:sp>
      <p:sp>
        <p:nvSpPr>
          <p:cNvPr id="2" name="">
            <a:extLst xmlns:a="http://schemas.openxmlformats.org/drawingml/2006/main">
              <a:ext uri="{FF2B5EF4-FFF2-40B4-BE49-F238E27FC236}">
                <a16:creationId xmlns:a16="http://schemas.microsoft.com/office/drawing/2014/main" id="{BE4EC21C-293C-47E0-B5D0-036C90A7B7BD}"/>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8</a:t>
            </a:r>
          </a:p>
        </p:txBody>
      </p:sp>
      <p:sp>
        <p:nvSpPr>
          <p:cNvPr id="3" name="">
            <a:extLst xmlns:a="http://schemas.openxmlformats.org/drawingml/2006/main">
              <a:ext uri="{FF2B5EF4-FFF2-40B4-BE49-F238E27FC236}">
                <a16:creationId xmlns:a16="http://schemas.microsoft.com/office/drawing/2014/main" id="{7FFA18B4-5BE1-4E03-B55C-380D53614DD2}"/>
              </a:ext>
            </a:extLst>
          </p:cNvPr>
          <p:cNvSpPr>
            <a:spLocks xmlns:a="http://schemas.openxmlformats.org/drawingml/2006/main" noGrp="1"/>
          </p:cNvSpPr>
          <p:nvPr/>
        </p:nvSpPr>
        <p:spPr>
          <a:xfrm xmlns:a="http://schemas.openxmlformats.org/drawingml/2006/main">
            <a:off x="609600" y="17621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A1848"/>
                </a:solidFill>
                <a:latin typeface="Arial"/>
                <a:ea typeface="Arial"/>
                <a:cs typeface="Arial"/>
              </a:defRPr>
            </a:pPr>
            <a:r>
              <a:rPr sz="3000" b="1">
                <a:solidFill>
                  <a:srgbClr val="1A1848"/>
                </a:solidFill>
                <a:latin typeface="Arial"/>
                <a:ea typeface="Arial"/>
                <a:cs typeface="Arial"/>
              </a:rPr>
              <a:t>A pilot for insurer intake teams</a:t>
            </a:r>
          </a:p>
        </p:txBody>
      </p:sp>
      <p:sp>
        <p:nvSpPr>
          <p:cNvPr id="4" name="">
            <a:extLst xmlns:a="http://schemas.openxmlformats.org/drawingml/2006/main">
              <a:ext uri="{FF2B5EF4-FFF2-40B4-BE49-F238E27FC236}">
                <a16:creationId xmlns:a16="http://schemas.microsoft.com/office/drawing/2014/main" id="{70621919-6871-416C-B473-D431D90C0E49}"/>
              </a:ext>
            </a:extLst>
          </p:cNvPr>
          <p:cNvSpPr>
            <a:spLocks xmlns:a="http://schemas.openxmlformats.org/drawingml/2006/main" noGrp="1"/>
          </p:cNvSpPr>
          <p:nvPr/>
        </p:nvSpPr>
        <p:spPr>
          <a:xfrm xmlns:a="http://schemas.openxmlformats.org/drawingml/2006/main">
            <a:off x="609600" y="2667000"/>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Measure handling time and repeated calls</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Track document completeness and identifier accuracy</a:t>
            </a:r>
          </a:p>
          <a:p xmlns:a="http://schemas.openxmlformats.org/drawingml/2006/main">
            <a:r>
              <a:t/>
            </a:r>
          </a:p>
          <a:p xmlns:a="http://schemas.openxmlformats.org/drawingml/2006/main">
            <a:pPr>
              <a:defRPr sz="2250" b="0">
                <a:solidFill>
                  <a:srgbClr val="1A1848"/>
                </a:solidFill>
                <a:latin typeface="Arial"/>
                <a:ea typeface="Arial"/>
                <a:cs typeface="Arial"/>
              </a:defRPr>
            </a:pPr>
            <a:r>
              <a:rPr sz="2250" b="0">
                <a:solidFill>
                  <a:srgbClr val="1A1848"/>
                </a:solidFill>
                <a:latin typeface="Arial"/>
                <a:ea typeface="Arial"/>
                <a:cs typeface="Arial"/>
              </a:rPr>
              <a:t>Compare cost per completed case</a:t>
            </a:r>
          </a:p>
        </p:txBody>
      </p:sp>
      <p:sp>
        <p:nvSpPr>
          <p:cNvPr id="5" name="">
            <a:extLst xmlns:a="http://schemas.openxmlformats.org/drawingml/2006/main">
              <a:ext uri="{FF2B5EF4-FFF2-40B4-BE49-F238E27FC236}">
                <a16:creationId xmlns:a16="http://schemas.microsoft.com/office/drawing/2014/main" id="{35FA3287-08F3-45A7-A1E9-4DA00AC181BE}"/>
              </a:ext>
            </a:extLst>
          </p:cNvPr>
          <p:cNvSpPr>
            <a:spLocks xmlns:a="http://schemas.openxmlformats.org/drawingml/2006/main" noGrp="1"/>
          </p:cNvSpPr>
          <p:nvPr/>
        </p:nvSpPr>
        <p:spPr>
          <a:xfrm xmlns:a="http://schemas.openxmlformats.org/drawingml/2006/main">
            <a:off x="609600" y="539115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96800"/>
                </a:solidFill>
                <a:latin typeface="Arial"/>
                <a:ea typeface="Arial"/>
                <a:cs typeface="Arial"/>
              </a:defRPr>
            </a:pPr>
            <a:r>
              <a:rPr sz="2025" b="0">
                <a:solidFill>
                  <a:srgbClr val="A96800"/>
                </a:solidFill>
                <a:latin typeface="Arial"/>
                <a:ea typeface="Arial"/>
                <a:cs typeface="Arial"/>
              </a:rPr>
              <a:t>Business hypothesis. No measured customer savings yet.</a:t>
            </a:r>
          </a:p>
        </p:txBody>
      </p:sp>
    </p:spTree>
    <p:extLst>
      <p:ext uri="{BB962C8B-B14F-4D97-AF65-F5344CB8AC3E}">
        <p14:creationId xmlns:p14="http://schemas.microsoft.com/office/powerpoint/2010/main" val="1946301678"/>
      </p:ext>
    </p:extLst>
  </p:cSld>
</p:sld>
</file>

<file path=ppt/slides/slide9.xml><?xml version="1.0" encoding="utf-8"?>
<p:sld xmlns:p="http://schemas.openxmlformats.org/presentationml/2006/main">
  <p:cSld>
    <p:bg>
      <p:bgPr>
        <a:solidFill xmlns:a="http://schemas.openxmlformats.org/drawingml/2006/main">
          <a:srgbClr val="F6F4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947667-54CD-4DC9-98F7-955CB62A10F9}"/>
              </a:ext>
            </a:extLst>
          </p:cNvPr>
          <p:cNvSpPr>
            <a:spLocks xmlns:a="http://schemas.openxmlformats.org/drawingml/2006/main" noGrp="1"/>
          </p:cNvSpPr>
          <p:nvPr/>
        </p:nvSpPr>
        <p:spPr>
          <a:xfrm xmlns:a="http://schemas.openxmlformats.org/drawingml/2006/main">
            <a:off x="609600" y="40005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A1848"/>
                </a:solidFill>
                <a:latin typeface="Arial"/>
                <a:ea typeface="Arial"/>
                <a:cs typeface="Arial"/>
              </a:defRPr>
            </a:pPr>
            <a:r>
              <a:rPr sz="3600" b="1">
                <a:solidFill>
                  <a:srgbClr val="1A1848"/>
                </a:solidFill>
                <a:latin typeface="Arial"/>
                <a:ea typeface="Arial"/>
                <a:cs typeface="Arial"/>
              </a:rPr>
              <a:t>Try the agent and inspect the source</a:t>
            </a:r>
          </a:p>
        </p:txBody>
      </p:sp>
      <p:sp>
        <p:nvSpPr>
          <p:cNvPr id="2" name="">
            <a:extLst xmlns:a="http://schemas.openxmlformats.org/drawingml/2006/main">
              <a:ext uri="{FF2B5EF4-FFF2-40B4-BE49-F238E27FC236}">
                <a16:creationId xmlns:a16="http://schemas.microsoft.com/office/drawing/2014/main" id="{8F3047AB-C081-4127-8B0A-ECF42FDB4759}"/>
              </a:ext>
            </a:extLst>
          </p:cNvPr>
          <p:cNvSpPr>
            <a:spLocks xmlns:a="http://schemas.openxmlformats.org/drawingml/2006/main" noGrp="1"/>
          </p:cNvSpPr>
          <p:nvPr/>
        </p:nvSpPr>
        <p:spPr>
          <a:xfrm xmlns:a="http://schemas.openxmlformats.org/drawingml/2006/main">
            <a:off x="609600" y="6381750"/>
            <a:ext cx="904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E5B85"/>
                </a:solidFill>
                <a:latin typeface="Arial"/>
                <a:ea typeface="Arial"/>
                <a:cs typeface="Arial"/>
              </a:defRPr>
            </a:pPr>
            <a:r>
              <a:rPr sz="1200" b="0">
                <a:solidFill>
                  <a:srgbClr val="5E5B85"/>
                </a:solidFill>
                <a:latin typeface="Arial"/>
                <a:ea typeface="Arial"/>
                <a:cs typeface="Arial"/>
              </a:rPr>
              <a:t>Sawt al-Tameen   /   9</a:t>
            </a:r>
          </a:p>
        </p:txBody>
      </p:sp>
      <p:sp>
        <p:nvSpPr>
          <p:cNvPr id="3" name="">
            <a:extLst xmlns:a="http://schemas.openxmlformats.org/drawingml/2006/main">
              <a:ext uri="{FF2B5EF4-FFF2-40B4-BE49-F238E27FC236}">
                <a16:creationId xmlns:a16="http://schemas.microsoft.com/office/drawing/2014/main" id="{76A14C05-BA67-4C5B-A15A-04DA55AC2F59}"/>
              </a:ext>
            </a:extLst>
          </p:cNvPr>
          <p:cNvSpPr>
            <a:spLocks xmlns:a="http://schemas.openxmlformats.org/drawingml/2006/main" noGrp="1"/>
          </p:cNvSpPr>
          <p:nvPr/>
        </p:nvSpPr>
        <p:spPr>
          <a:xfrm xmlns:a="http://schemas.openxmlformats.org/drawingml/2006/main">
            <a:off x="609600" y="18097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A1848"/>
                </a:solidFill>
                <a:latin typeface="Arial"/>
                <a:ea typeface="Arial"/>
                <a:cs typeface="Arial"/>
              </a:defRPr>
            </a:pPr>
            <a:r>
              <a:rPr sz="2700" b="1">
                <a:solidFill>
                  <a:srgbClr val="1A1848"/>
                </a:solidFill>
                <a:latin typeface="Arial"/>
                <a:ea typeface="Arial"/>
                <a:cs typeface="Arial"/>
              </a:rPr>
              <a:t>Voice demo</a:t>
            </a:r>
          </a:p>
        </p:txBody>
      </p:sp>
      <p:sp>
        <p:nvSpPr>
          <p:cNvPr id="4" name="">
            <a:extLst xmlns:a="http://schemas.openxmlformats.org/drawingml/2006/main">
              <a:ext uri="{FF2B5EF4-FFF2-40B4-BE49-F238E27FC236}">
                <a16:creationId xmlns:a16="http://schemas.microsoft.com/office/drawing/2014/main" id="{FFC9DB4C-6753-46AC-9DFA-F81573331B6C}"/>
              </a:ext>
            </a:extLst>
          </p:cNvPr>
          <p:cNvSpPr>
            <a:spLocks xmlns:a="http://schemas.openxmlformats.org/drawingml/2006/main" noGrp="1"/>
          </p:cNvSpPr>
          <p:nvPr/>
        </p:nvSpPr>
        <p:spPr>
          <a:xfrm xmlns:a="http://schemas.openxmlformats.org/drawingml/2006/main">
            <a:off x="609600" y="24288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dividable-fretted-aroma.ngrok-free.dev/voice</a:t>
            </a:r>
          </a:p>
        </p:txBody>
      </p:sp>
      <p:sp>
        <p:nvSpPr>
          <p:cNvPr id="5" name="">
            <a:extLst xmlns:a="http://schemas.openxmlformats.org/drawingml/2006/main">
              <a:ext uri="{FF2B5EF4-FFF2-40B4-BE49-F238E27FC236}">
                <a16:creationId xmlns:a16="http://schemas.microsoft.com/office/drawing/2014/main" id="{F1A97A90-7494-4AB5-96EE-7C8AF1C956C4}"/>
              </a:ext>
            </a:extLst>
          </p:cNvPr>
          <p:cNvSpPr>
            <a:spLocks xmlns:a="http://schemas.openxmlformats.org/drawingml/2006/main" noGrp="1"/>
          </p:cNvSpPr>
          <p:nvPr/>
        </p:nvSpPr>
        <p:spPr>
          <a:xfrm xmlns:a="http://schemas.openxmlformats.org/drawingml/2006/main">
            <a:off x="609600" y="34766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A1848"/>
                </a:solidFill>
                <a:latin typeface="Arial"/>
                <a:ea typeface="Arial"/>
                <a:cs typeface="Arial"/>
              </a:defRPr>
            </a:pPr>
            <a:r>
              <a:rPr sz="2700" b="1">
                <a:solidFill>
                  <a:srgbClr val="1A1848"/>
                </a:solidFill>
                <a:latin typeface="Arial"/>
                <a:ea typeface="Arial"/>
                <a:cs typeface="Arial"/>
              </a:rPr>
              <a:t>Public source</a:t>
            </a:r>
          </a:p>
        </p:txBody>
      </p:sp>
      <p:sp>
        <p:nvSpPr>
          <p:cNvPr id="6" name="">
            <a:extLst xmlns:a="http://schemas.openxmlformats.org/drawingml/2006/main">
              <a:ext uri="{FF2B5EF4-FFF2-40B4-BE49-F238E27FC236}">
                <a16:creationId xmlns:a16="http://schemas.microsoft.com/office/drawing/2014/main" id="{6F8B2FB3-0F97-42C3-9185-54434C08872E}"/>
              </a:ext>
            </a:extLst>
          </p:cNvPr>
          <p:cNvSpPr>
            <a:spLocks xmlns:a="http://schemas.openxmlformats.org/drawingml/2006/main" noGrp="1"/>
          </p:cNvSpPr>
          <p:nvPr/>
        </p:nvSpPr>
        <p:spPr>
          <a:xfrm xmlns:a="http://schemas.openxmlformats.org/drawingml/2006/main">
            <a:off x="609600" y="40957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A1848"/>
                </a:solidFill>
                <a:latin typeface="Arial"/>
                <a:ea typeface="Arial"/>
                <a:cs typeface="Arial"/>
              </a:defRPr>
            </a:pPr>
            <a:r>
              <a:rPr sz="2175" b="0">
                <a:solidFill>
                  <a:srgbClr val="1A1848"/>
                </a:solidFill>
                <a:latin typeface="Arial"/>
                <a:ea typeface="Arial"/>
                <a:cs typeface="Arial"/>
              </a:rPr>
              <a:t>github.com/adib-cyber007/sawt-al-tameen</a:t>
            </a:r>
          </a:p>
        </p:txBody>
      </p:sp>
      <p:sp>
        <p:nvSpPr>
          <p:cNvPr id="7" name="">
            <a:extLst xmlns:a="http://schemas.openxmlformats.org/drawingml/2006/main">
              <a:ext uri="{FF2B5EF4-FFF2-40B4-BE49-F238E27FC236}">
                <a16:creationId xmlns:a16="http://schemas.microsoft.com/office/drawing/2014/main" id="{FD2F1EEF-8FD9-44D7-BCF9-ED9AB10FAC89}"/>
              </a:ext>
            </a:extLst>
          </p:cNvPr>
          <p:cNvSpPr>
            <a:spLocks xmlns:a="http://schemas.openxmlformats.org/drawingml/2006/main" noGrp="1"/>
          </p:cNvSpPr>
          <p:nvPr/>
        </p:nvSpPr>
        <p:spPr>
          <a:xfrm xmlns:a="http://schemas.openxmlformats.org/drawingml/2006/main">
            <a:off x="609600" y="53816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A1848"/>
                </a:solidFill>
                <a:latin typeface="Arial"/>
                <a:ea typeface="Arial"/>
                <a:cs typeface="Arial"/>
              </a:defRPr>
            </a:pPr>
            <a:r>
              <a:rPr sz="2400" b="1">
                <a:solidFill>
                  <a:srgbClr val="1A1848"/>
                </a:solidFill>
                <a:latin typeface="Arial"/>
                <a:ea typeface="Arial"/>
                <a:cs typeface="Arial"/>
              </a:rPr>
              <a:t>Prepared by the assistant. Decided by a person.</a:t>
            </a:r>
          </a:p>
        </p:txBody>
      </p:sp>
    </p:spTree>
    <p:extLst>
      <p:ext uri="{BB962C8B-B14F-4D97-AF65-F5344CB8AC3E}">
        <p14:creationId xmlns:p14="http://schemas.microsoft.com/office/powerpoint/2010/main" val="1549146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2026-09-30T10:52:40.2090000Z</dcterms:created>
  <dcterms:modified xsi:type="dcterms:W3CDTF">2026-09-30T10:52:40.2090000Z</dcterms:modified>
</coreProperties>
</file>